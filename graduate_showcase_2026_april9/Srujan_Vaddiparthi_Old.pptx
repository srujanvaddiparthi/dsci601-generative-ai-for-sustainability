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A66912-178D-45C3-BF4E-37D6B8B9526C}">
  <a:tblStyle styleId="{8BA66912-178D-45C3-BF4E-37D6B8B952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4e8ba20c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4e8ba20c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4e8ba20c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4e8ba20c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4e8ba20c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4e8ba20c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4e8ba20c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4e8ba20c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4e8ba20c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4e8ba20c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e8ba20c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e8ba20c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4e8ba20c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4e8ba20c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4e8ba20c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4e8ba20c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4e8ba20c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4e8ba20c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4e8ba20c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4e8ba20c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4e8ba20c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4e8ba20c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4e8ba20c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4e8ba20c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e8ba20c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4e8ba20c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4e8ba20c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4e8ba20c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4e8ba20c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4e8ba20c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e8ba20c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4e8ba20c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4e8ba20c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4e8ba20c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4e8ba20c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4e8ba20c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4e8ba20c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4e8ba20c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4e8ba20c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4e8ba20c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4e8ba20c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4e8ba20c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4e8ba20c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4e8ba20c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4e8ba20c9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4e8ba20c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4e8ba20c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4e8ba20c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4e8ba20c9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4e8ba20c9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4e8ba20c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4e8ba20c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4e8ba20c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4e8ba20c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4e8ba20c9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4e8ba20c9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4e8ba20c9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4e8ba20c9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4e8ba20c9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4e8ba20c9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4e8ba20c9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4e8ba20c9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4e8ba20c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4e8ba20c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4e8ba20c9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4e8ba20c9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4e8ba20c9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4e8ba20c9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4e8ba20c9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4e8ba20c9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4e8ba20c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4e8ba20c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072275" y="2286000"/>
            <a:ext cx="3759900" cy="21240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Srujan Vaddiparthi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Supervisor: </a:t>
            </a:r>
            <a:r>
              <a:rPr b="1" lang="en-GB" sz="1800">
                <a:solidFill>
                  <a:schemeClr val="dk2"/>
                </a:solidFill>
              </a:rPr>
              <a:t>Abu Islam </a:t>
            </a:r>
            <a:br>
              <a:rPr b="1" lang="en-GB" sz="1800">
                <a:solidFill>
                  <a:schemeClr val="dk2"/>
                </a:solidFill>
              </a:rPr>
            </a:br>
            <a:r>
              <a:rPr b="1" lang="en-GB" sz="1800">
                <a:solidFill>
                  <a:schemeClr val="dk2"/>
                </a:solidFill>
              </a:rPr>
              <a:t>Sri Priya Das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Golisano Institute for Sustainability</a:t>
            </a:r>
            <a:endParaRPr>
              <a:solidFill>
                <a:schemeClr val="dk2"/>
              </a:solidFill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Rochester Institute of Technology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661725" y="445025"/>
            <a:ext cx="8170500" cy="9852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Generating Useful Surface Defect Images When Real Data Is Scarce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6" name="Google Shape;56;p13"/>
          <p:cNvSpPr txBox="1"/>
          <p:nvPr/>
        </p:nvSpPr>
        <p:spPr>
          <a:xfrm>
            <a:off x="3418975" y="1562363"/>
            <a:ext cx="5413200" cy="431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434343"/>
                </a:solidFill>
              </a:rPr>
              <a:t>Conditional GAN experiments on metal surface defects</a:t>
            </a:r>
            <a:endParaRPr sz="1600">
              <a:solidFill>
                <a:srgbClr val="434343"/>
              </a:solidFill>
            </a:endParaRPr>
          </a:p>
        </p:txBody>
      </p:sp>
      <p:pic>
        <p:nvPicPr>
          <p:cNvPr descr="File:RIT 2018 logo CAD Ceramics rgb vert w.svg - Wikimedia Commons" id="57" name="Google Shape;57;p13"/>
          <p:cNvPicPr preferRelativeResize="0"/>
          <p:nvPr/>
        </p:nvPicPr>
        <p:blipFill rotWithShape="1">
          <a:blip r:embed="rId4">
            <a:alphaModFix/>
          </a:blip>
          <a:srcRect b="55581" l="0" r="0" t="5155"/>
          <a:stretch/>
        </p:blipFill>
        <p:spPr>
          <a:xfrm>
            <a:off x="7544050" y="4507900"/>
            <a:ext cx="1288175" cy="5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Agenda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Why this problem matters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Research question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How a conditional GAN works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Experimental progression and results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Key lessons, challenges, and next steps</a:t>
            </a:r>
            <a:endParaRPr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Why this problem matters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Defect images are often scarce in industrial settings</a:t>
            </a:r>
            <a:endParaRPr i="1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Why this problem matters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Defect images are often scarce in industrial settings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Small datasets limit computer vision performance</a:t>
            </a:r>
            <a:endParaRPr i="1"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Why this problem matters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Defect images are often scarce in industrial settings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Small datasets limit computer vision performance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Useful synthetic images could support inspection, reuse, and reduced wast</a:t>
            </a:r>
            <a:r>
              <a:rPr lang="en-GB" sz="1350"/>
              <a:t>e</a:t>
            </a:r>
            <a:endParaRPr i="1"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Why this problem matters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Defect images are often scarce in industrial settings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Small datasets limit computer vision performance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Useful synthetic images could support inspection, reuse, and reduced waste</a:t>
            </a:r>
            <a:endParaRPr sz="135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50"/>
            </a:br>
            <a:r>
              <a:rPr i="1" lang="en-GB" sz="1350"/>
              <a:t>This is not a general image-generation problem. It is a low-data, defect-faithful industrial generation problem.</a:t>
            </a:r>
            <a:endParaRPr i="1" sz="1350"/>
          </a:p>
        </p:txBody>
      </p:sp>
      <p:pic>
        <p:nvPicPr>
          <p:cNvPr id="88" name="Google Shape;88;p18" title="normal_000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99" y="1899899"/>
            <a:ext cx="2180700" cy="2180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8" title="scratches_0001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3125" y="1899900"/>
            <a:ext cx="2180700" cy="2180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8" title="spots_0003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4650" y="1899900"/>
            <a:ext cx="2180700" cy="2180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p18"/>
          <p:cNvSpPr txBox="1"/>
          <p:nvPr/>
        </p:nvSpPr>
        <p:spPr>
          <a:xfrm>
            <a:off x="1265750" y="4130725"/>
            <a:ext cx="8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Normal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6188800" y="4130725"/>
            <a:ext cx="8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Spot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3727275" y="4130725"/>
            <a:ext cx="8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Scratch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Can AI generate useful defect images when real surface-defect data is scarce?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Research Question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Can AI generate useful defect images when real surface-defect data is scarce?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What I wanted to understand: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Research Question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Can AI generate useful defect images when real surface-defect data is scarce?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What I wanted to understand: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Can the model generate the defect type I ask for?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Research Question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Can AI generate useful defect images when real surface-defect data is scarce?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What I wanted to understand: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Can the model generate the defect type I ask for?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Which defect types are easier to learn?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Research Question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Can AI generate useful defect images when real surface-defect data is scarce?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What I wanted to understand: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Can the model generate the defect type I ask for?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Which defect types are easier to learn?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What improves output quality when data is both scarce and imbalanced?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Research Question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How a Conditional GAN Works </a:t>
            </a:r>
            <a:r>
              <a:rPr b="1" lang="en-GB" sz="2289">
                <a:solidFill>
                  <a:srgbClr val="F66900"/>
                </a:solidFill>
              </a:rPr>
              <a:t>(Simplified)</a:t>
            </a:r>
            <a:endParaRPr b="1" sz="2289">
              <a:solidFill>
                <a:srgbClr val="F66900"/>
              </a:solidFill>
            </a:endParaRPr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4427600"/>
            <a:ext cx="85206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sz="1350"/>
              <a:t>The label steers what the generator creates and what the discriminator expects.</a:t>
            </a:r>
            <a:endParaRPr i="1" sz="1350"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75" y="681800"/>
            <a:ext cx="7875740" cy="3613050"/>
          </a:xfrm>
          <a:prstGeom prst="rect">
            <a:avLst/>
          </a:prstGeom>
          <a:noFill/>
          <a:ln cap="flat" cmpd="sng" w="19050">
            <a:solidFill>
              <a:srgbClr val="6F706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How I Judged Progress</a:t>
            </a:r>
            <a:endParaRPr b="1" sz="2289">
              <a:solidFill>
                <a:srgbClr val="F66900"/>
              </a:solidFill>
            </a:endParaRPr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How I evaluated outputs: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Visual Realism 👁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Class Consistency 🏷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Diversity ▤▥▦▨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Starting Point: 3-Class Baseline</a:t>
            </a:r>
            <a:endParaRPr b="1" sz="2289">
              <a:solidFill>
                <a:srgbClr val="F66900"/>
              </a:solidFill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One cDCGAN for normal / scratch / spot</a:t>
            </a:r>
            <a:endParaRPr sz="13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Starting Point: 3-Class Baseline</a:t>
            </a:r>
            <a:endParaRPr b="1" sz="2289">
              <a:solidFill>
                <a:srgbClr val="F66900"/>
              </a:solidFill>
            </a:endParaRPr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One cDCGAN for normal / scratch / spot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Learned shared metal texture</a:t>
            </a:r>
            <a:endParaRPr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Starting Point: 3-Class Baseline</a:t>
            </a:r>
            <a:endParaRPr b="1" sz="2289">
              <a:solidFill>
                <a:srgbClr val="F66900"/>
              </a:solidFill>
            </a:endParaRPr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One cDCGAN for normal / scratch / spot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Learned shared metal texture</a:t>
            </a:r>
            <a:endParaRPr sz="1350"/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-GB" sz="1350"/>
              <a:t>Weak defect-specific generation</a:t>
            </a:r>
            <a:endParaRPr sz="1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Starting Point: 3-Class Baseline</a:t>
            </a:r>
            <a:endParaRPr b="1" sz="2289">
              <a:solidFill>
                <a:srgbClr val="F66900"/>
              </a:solidFill>
            </a:endParaRPr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572700"/>
            <a:ext cx="852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350"/>
              <a:t>Generated Output:</a:t>
            </a:r>
            <a:endParaRPr sz="1350"/>
          </a:p>
        </p:txBody>
      </p:sp>
      <p:pic>
        <p:nvPicPr>
          <p:cNvPr id="161" name="Google Shape;161;p29" title="epoch_0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75" y="942000"/>
            <a:ext cx="6968301" cy="3587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Starting Point: 3-Class Baseline</a:t>
            </a:r>
            <a:endParaRPr b="1" sz="2289">
              <a:solidFill>
                <a:srgbClr val="F66900"/>
              </a:solidFill>
            </a:endParaRPr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572700"/>
            <a:ext cx="852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350"/>
              <a:t>Generated Output:</a:t>
            </a:r>
            <a:endParaRPr sz="1350"/>
          </a:p>
        </p:txBody>
      </p:sp>
      <p:pic>
        <p:nvPicPr>
          <p:cNvPr id="168" name="Google Shape;168;p30" title="epoch_0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75" y="942000"/>
            <a:ext cx="6968301" cy="3587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30"/>
          <p:cNvSpPr txBox="1"/>
          <p:nvPr/>
        </p:nvSpPr>
        <p:spPr>
          <a:xfrm>
            <a:off x="7619975" y="2136900"/>
            <a:ext cx="1363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00">
                <a:solidFill>
                  <a:srgbClr val="38761D"/>
                </a:solidFill>
              </a:rPr>
              <a:t>The 3-class setup l</a:t>
            </a:r>
            <a:r>
              <a:rPr b="1" i="1" lang="en-GB" sz="1000">
                <a:solidFill>
                  <a:srgbClr val="38761D"/>
                </a:solidFill>
              </a:rPr>
              <a:t>earned metal texture better than defect structure.</a:t>
            </a:r>
            <a:endParaRPr b="1" i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Why I Simplified the Problem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600"/>
              <a:t>From 3 classes to binary experiments.</a:t>
            </a:r>
            <a:endParaRPr b="1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Why I Simplified the Problem</a:t>
            </a:r>
            <a:endParaRPr b="1" sz="3733">
              <a:solidFill>
                <a:srgbClr val="F66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From 3 classes to binary experiments.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3-class setup weakened class-specific generation.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Why I Simplified the Problem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From 3 classes to binary experiments.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3-class setup weakened class-specific generation.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I split the problem into: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normal vs scratch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normal vs spot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Why I Simplified the Problem</a:t>
            </a:r>
            <a:endParaRPr b="1" sz="2289">
              <a:solidFill>
                <a:srgbClr val="F66900"/>
              </a:solidFill>
            </a:endParaRPr>
          </a:p>
        </p:txBody>
      </p:sp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From 3 classes to binary experiments.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3-class setup weakened class-specific generation.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I split the problem into: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normal vs scratch</a:t>
            </a:r>
            <a:endParaRPr b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-GB" sz="1600"/>
              <a:t>normal vs spot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I trained each setup for the </a:t>
            </a:r>
            <a:r>
              <a:rPr lang="en-GB" sz="1600" u="sng"/>
              <a:t>same number of epochs</a:t>
            </a:r>
            <a:r>
              <a:rPr lang="en-GB" sz="1600"/>
              <a:t>, and also </a:t>
            </a:r>
            <a:r>
              <a:rPr lang="en-GB" sz="1600" u="sng"/>
              <a:t>checked intermediate</a:t>
            </a:r>
            <a:r>
              <a:rPr lang="en-GB" sz="1600"/>
              <a:t> </a:t>
            </a:r>
            <a:r>
              <a:rPr lang="en-GB" sz="1600" u="sng"/>
              <a:t>results</a:t>
            </a:r>
            <a:r>
              <a:rPr lang="en-GB" sz="1600"/>
              <a:t>.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Normal vs Scratch: What Changed</a:t>
            </a:r>
            <a:endParaRPr b="1" sz="3733">
              <a:solidFill>
                <a:srgbClr val="F66900"/>
              </a:solidFill>
            </a:endParaRPr>
          </a:p>
        </p:txBody>
      </p:sp>
      <p:pic>
        <p:nvPicPr>
          <p:cNvPr id="199" name="Google Shape;199;p35" title="epoch_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5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Baseline Output:</a:t>
            </a:r>
            <a:endParaRPr b="1" sz="115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Normal vs Scratch: What Changed</a:t>
            </a:r>
            <a:endParaRPr b="1" sz="3733">
              <a:solidFill>
                <a:srgbClr val="F66900"/>
              </a:solidFill>
            </a:endParaRPr>
          </a:p>
        </p:txBody>
      </p:sp>
      <p:pic>
        <p:nvPicPr>
          <p:cNvPr id="206" name="Google Shape;206;p36" title="epoch_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6" title="epoch_2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526" y="3081642"/>
            <a:ext cx="4619501" cy="193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6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Baseline Output:</a:t>
            </a:r>
            <a:endParaRPr b="1" sz="1150" u="sng">
              <a:solidFill>
                <a:schemeClr val="dk2"/>
              </a:solidFill>
            </a:endParaRPr>
          </a:p>
        </p:txBody>
      </p:sp>
      <p:sp>
        <p:nvSpPr>
          <p:cNvPr id="209" name="Google Shape;209;p36"/>
          <p:cNvSpPr txBox="1"/>
          <p:nvPr/>
        </p:nvSpPr>
        <p:spPr>
          <a:xfrm>
            <a:off x="311700" y="27932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Final Setup Output:</a:t>
            </a:r>
            <a:endParaRPr b="1" sz="115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Normal vs Scratch: What Changed</a:t>
            </a:r>
            <a:endParaRPr b="1" sz="3733">
              <a:solidFill>
                <a:srgbClr val="F66900"/>
              </a:solidFill>
            </a:endParaRPr>
          </a:p>
        </p:txBody>
      </p:sp>
      <p:pic>
        <p:nvPicPr>
          <p:cNvPr id="215" name="Google Shape;215;p37" title="epoch_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7" title="epoch_2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526" y="3081642"/>
            <a:ext cx="4619501" cy="193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Baseline Output:</a:t>
            </a:r>
            <a:endParaRPr b="1" sz="1150" u="sng">
              <a:solidFill>
                <a:schemeClr val="dk2"/>
              </a:solidFill>
            </a:endParaRPr>
          </a:p>
        </p:txBody>
      </p:sp>
      <p:sp>
        <p:nvSpPr>
          <p:cNvPr id="218" name="Google Shape;218;p37"/>
          <p:cNvSpPr txBox="1"/>
          <p:nvPr/>
        </p:nvSpPr>
        <p:spPr>
          <a:xfrm>
            <a:off x="311700" y="27932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Final Setup Output</a:t>
            </a:r>
            <a:endParaRPr b="1" sz="1150" u="sng">
              <a:solidFill>
                <a:schemeClr val="dk2"/>
              </a:solidFill>
            </a:endParaRPr>
          </a:p>
        </p:txBody>
      </p:sp>
      <p:graphicFrame>
        <p:nvGraphicFramePr>
          <p:cNvPr id="219" name="Google Shape;219;p37"/>
          <p:cNvGraphicFramePr/>
          <p:nvPr/>
        </p:nvGraphicFramePr>
        <p:xfrm>
          <a:off x="6242700" y="105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{8BA66912-178D-45C3-BF4E-37D6B8B9526C}</a:tableStyleId>
              </a:tblPr>
              <a:tblGrid>
                <a:gridCol w="1484300"/>
                <a:gridCol w="1282550"/>
              </a:tblGrid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Evaluation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Judgement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Visual Realism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👁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FFFF00"/>
                          </a:highlight>
                        </a:rPr>
                        <a:t>Medium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Class Consistency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🏷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FFFF00"/>
                          </a:highlight>
                        </a:rPr>
                        <a:t>Medium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Diversity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▤▥▦▨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EA9999"/>
                          </a:highlight>
                        </a:rPr>
                        <a:t>Low</a:t>
                      </a:r>
                      <a:endParaRPr sz="1000">
                        <a:highlight>
                          <a:srgbClr val="EA999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Normal vs Scratch: What Changed</a:t>
            </a:r>
            <a:endParaRPr b="1" sz="3733">
              <a:solidFill>
                <a:srgbClr val="F66900"/>
              </a:solidFill>
            </a:endParaRPr>
          </a:p>
        </p:txBody>
      </p:sp>
      <p:pic>
        <p:nvPicPr>
          <p:cNvPr id="225" name="Google Shape;225;p38" title="epoch_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8" title="epoch_2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526" y="3081642"/>
            <a:ext cx="4619501" cy="193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8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Baseline Output:</a:t>
            </a:r>
            <a:endParaRPr b="1" sz="1150" u="sng">
              <a:solidFill>
                <a:schemeClr val="dk2"/>
              </a:solidFill>
            </a:endParaRPr>
          </a:p>
        </p:txBody>
      </p:sp>
      <p:sp>
        <p:nvSpPr>
          <p:cNvPr id="228" name="Google Shape;228;p38"/>
          <p:cNvSpPr txBox="1"/>
          <p:nvPr/>
        </p:nvSpPr>
        <p:spPr>
          <a:xfrm>
            <a:off x="311700" y="27932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Final Setup Output</a:t>
            </a:r>
            <a:endParaRPr b="1" sz="1150" u="sng">
              <a:solidFill>
                <a:schemeClr val="dk2"/>
              </a:solidFill>
            </a:endParaRPr>
          </a:p>
        </p:txBody>
      </p:sp>
      <p:graphicFrame>
        <p:nvGraphicFramePr>
          <p:cNvPr id="229" name="Google Shape;229;p38"/>
          <p:cNvGraphicFramePr/>
          <p:nvPr/>
        </p:nvGraphicFramePr>
        <p:xfrm>
          <a:off x="6242700" y="105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{8BA66912-178D-45C3-BF4E-37D6B8B9526C}</a:tableStyleId>
              </a:tblPr>
              <a:tblGrid>
                <a:gridCol w="1484300"/>
                <a:gridCol w="1282550"/>
              </a:tblGrid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Evaluation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Judgement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Visual Realism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👁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FFFF00"/>
                          </a:highlight>
                        </a:rPr>
                        <a:t>Medium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Class Consistency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🏷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FFFF00"/>
                          </a:highlight>
                        </a:rPr>
                        <a:t>Medium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Diversity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▤▥▦▨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EA9999"/>
                          </a:highlight>
                        </a:rPr>
                        <a:t>Low</a:t>
                      </a:r>
                      <a:endParaRPr sz="1000">
                        <a:highlight>
                          <a:srgbClr val="EA999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38"/>
          <p:cNvSpPr txBox="1"/>
          <p:nvPr/>
        </p:nvSpPr>
        <p:spPr>
          <a:xfrm>
            <a:off x="5317700" y="2723025"/>
            <a:ext cx="36918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solidFill>
                  <a:schemeClr val="dk2"/>
                </a:solidFill>
              </a:rPr>
              <a:t>Binary setup + enhancement improved scratch-vs-normal separation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solidFill>
                  <a:schemeClr val="dk2"/>
                </a:solidFill>
              </a:rPr>
              <a:t>Diversity stayed low, and scratches were still hard to model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Normal vs Spot: What Changed</a:t>
            </a:r>
            <a:endParaRPr b="1" sz="3733">
              <a:solidFill>
                <a:srgbClr val="F66900"/>
              </a:solidFill>
            </a:endParaRPr>
          </a:p>
        </p:txBody>
      </p:sp>
      <p:pic>
        <p:nvPicPr>
          <p:cNvPr id="236" name="Google Shape;236;p39" title="epoch_2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9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Baseline Output:</a:t>
            </a:r>
            <a:endParaRPr b="1" sz="115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Normal vs Spot: What Changed</a:t>
            </a:r>
            <a:endParaRPr b="1" sz="3733">
              <a:solidFill>
                <a:srgbClr val="F66900"/>
              </a:solidFill>
            </a:endParaRPr>
          </a:p>
        </p:txBody>
      </p:sp>
      <p:pic>
        <p:nvPicPr>
          <p:cNvPr id="243" name="Google Shape;243;p40" title="epoch_2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0" title="epoch_20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526" y="3081642"/>
            <a:ext cx="4619501" cy="193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0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Baseline Output:</a:t>
            </a:r>
            <a:endParaRPr b="1" sz="1150" u="sng">
              <a:solidFill>
                <a:schemeClr val="dk2"/>
              </a:solidFill>
            </a:endParaRPr>
          </a:p>
        </p:txBody>
      </p:sp>
      <p:sp>
        <p:nvSpPr>
          <p:cNvPr id="246" name="Google Shape;246;p40"/>
          <p:cNvSpPr txBox="1"/>
          <p:nvPr/>
        </p:nvSpPr>
        <p:spPr>
          <a:xfrm>
            <a:off x="311700" y="27932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Final Setup Output</a:t>
            </a:r>
            <a:endParaRPr b="1" sz="115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Normal vs Spot: What Changed</a:t>
            </a:r>
            <a:endParaRPr b="1" sz="3733">
              <a:solidFill>
                <a:srgbClr val="F66900"/>
              </a:solidFill>
            </a:endParaRPr>
          </a:p>
        </p:txBody>
      </p:sp>
      <p:pic>
        <p:nvPicPr>
          <p:cNvPr id="252" name="Google Shape;252;p41" title="epoch_2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1" title="epoch_20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526" y="3081642"/>
            <a:ext cx="4619501" cy="193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1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Baseline Output:</a:t>
            </a:r>
            <a:endParaRPr b="1" sz="1150" u="sng">
              <a:solidFill>
                <a:schemeClr val="dk2"/>
              </a:solidFill>
            </a:endParaRPr>
          </a:p>
        </p:txBody>
      </p:sp>
      <p:sp>
        <p:nvSpPr>
          <p:cNvPr id="255" name="Google Shape;255;p41"/>
          <p:cNvSpPr txBox="1"/>
          <p:nvPr/>
        </p:nvSpPr>
        <p:spPr>
          <a:xfrm>
            <a:off x="311700" y="27932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Final Setup Output</a:t>
            </a:r>
            <a:endParaRPr b="1" sz="1150" u="sng">
              <a:solidFill>
                <a:schemeClr val="dk2"/>
              </a:solidFill>
            </a:endParaRPr>
          </a:p>
        </p:txBody>
      </p:sp>
      <p:graphicFrame>
        <p:nvGraphicFramePr>
          <p:cNvPr id="256" name="Google Shape;256;p41"/>
          <p:cNvGraphicFramePr/>
          <p:nvPr/>
        </p:nvGraphicFramePr>
        <p:xfrm>
          <a:off x="6242700" y="105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{8BA66912-178D-45C3-BF4E-37D6B8B9526C}</a:tableStyleId>
              </a:tblPr>
              <a:tblGrid>
                <a:gridCol w="1484300"/>
                <a:gridCol w="1282550"/>
              </a:tblGrid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Evaluation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Judgement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Visual Realism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👁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FFFF00"/>
                          </a:highlight>
                        </a:rPr>
                        <a:t>Medium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Class Consistency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🏷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00FF00"/>
                          </a:highlight>
                        </a:rPr>
                        <a:t>High</a:t>
                      </a:r>
                      <a:endParaRPr sz="1000"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Diversity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▤▥▦▨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EA9999"/>
                          </a:highlight>
                        </a:rPr>
                        <a:t>Low</a:t>
                      </a:r>
                      <a:endParaRPr sz="1000">
                        <a:highlight>
                          <a:srgbClr val="EA999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/>
        </p:nvSpPr>
        <p:spPr>
          <a:xfrm>
            <a:off x="5317700" y="2723025"/>
            <a:ext cx="36918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solidFill>
                  <a:schemeClr val="dk2"/>
                </a:solidFill>
              </a:rPr>
              <a:t>Spots were easier to learn than scratches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GB" sz="1300">
                <a:solidFill>
                  <a:schemeClr val="dk2"/>
                </a:solidFill>
              </a:rPr>
              <a:t>Class consistency improved, but diversity stayed low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62" name="Google Shape;262;p4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Normal vs Spot: What Changed</a:t>
            </a:r>
            <a:endParaRPr b="1" sz="3733">
              <a:solidFill>
                <a:srgbClr val="F66900"/>
              </a:solidFill>
            </a:endParaRPr>
          </a:p>
        </p:txBody>
      </p:sp>
      <p:pic>
        <p:nvPicPr>
          <p:cNvPr id="263" name="Google Shape;263;p42" title="epoch_2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2" title="epoch_20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526" y="3081642"/>
            <a:ext cx="4619501" cy="193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2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Baseline Output:</a:t>
            </a:r>
            <a:endParaRPr b="1" sz="1150" u="sng">
              <a:solidFill>
                <a:schemeClr val="dk2"/>
              </a:solidFill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311700" y="27932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 u="sng">
                <a:solidFill>
                  <a:schemeClr val="dk2"/>
                </a:solidFill>
              </a:rPr>
              <a:t>Final Setup Output</a:t>
            </a:r>
            <a:endParaRPr b="1" sz="1150" u="sng">
              <a:solidFill>
                <a:schemeClr val="dk2"/>
              </a:solidFill>
            </a:endParaRPr>
          </a:p>
        </p:txBody>
      </p:sp>
      <p:graphicFrame>
        <p:nvGraphicFramePr>
          <p:cNvPr id="267" name="Google Shape;267;p42"/>
          <p:cNvGraphicFramePr/>
          <p:nvPr/>
        </p:nvGraphicFramePr>
        <p:xfrm>
          <a:off x="6242700" y="105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{8BA66912-178D-45C3-BF4E-37D6B8B9526C}</a:tableStyleId>
              </a:tblPr>
              <a:tblGrid>
                <a:gridCol w="1484300"/>
                <a:gridCol w="1282550"/>
              </a:tblGrid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Evaluation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Judgement</a:t>
                      </a:r>
                      <a:endParaRPr b="1"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Visual Realism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👁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FFFF00"/>
                          </a:highlight>
                        </a:rPr>
                        <a:t>Medium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Class Consistency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🏷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00FF00"/>
                          </a:highlight>
                        </a:rPr>
                        <a:t>High</a:t>
                      </a:r>
                      <a:endParaRPr sz="1000"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Diversity </a:t>
                      </a:r>
                      <a:r>
                        <a:rPr lang="en-GB" sz="1000">
                          <a:solidFill>
                            <a:schemeClr val="dk2"/>
                          </a:solidFill>
                        </a:rPr>
                        <a:t>▤▥▦▨</a:t>
                      </a:r>
                      <a:endParaRPr sz="1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highlight>
                            <a:srgbClr val="EA9999"/>
                          </a:highlight>
                        </a:rPr>
                        <a:t>Low</a:t>
                      </a:r>
                      <a:endParaRPr sz="1000">
                        <a:highlight>
                          <a:srgbClr val="EA999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What I learned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Spot-like defects were easier to generate than scratches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Repeated examples and limited surface variety strongly shaped what the model learned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The model could separate classes better, but still repeated similar outputs</a:t>
            </a:r>
            <a:endParaRPr b="1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Challenges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Structured defects were harder than localized ones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Narrow and repeated data reduced diversity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The current cDCGAN learned texture more easily than controlled defect structure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Best-looking outputs sometimes appeared before the final epoch</a:t>
            </a:r>
            <a:endParaRPr b="1"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What comes next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More diverse defect data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Stronger conditioning / better architectures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Image-to-image translation approaches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More reliable ways to identify the best outputs</a:t>
            </a:r>
            <a:endParaRPr i="1"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What comes next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More diverse defect data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Stronger conditioning / better architectures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Image-to-image translation approaches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More reliable ways to identify the best outputs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600"/>
              <a:t>These findings suggest a path from low-data generation experiments toward more controllable and useful defect synthesis.</a:t>
            </a:r>
            <a:endParaRPr i="1"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Conclusion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The cDCGAN learned metal texture and some class-specific cues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Spots were easier to learn than scratches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Diversity remained the main limitation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These results point clearly to the next set of experiments</a:t>
            </a:r>
            <a:endParaRPr i="1"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33">
                <a:solidFill>
                  <a:srgbClr val="F66900"/>
                </a:solidFill>
              </a:rPr>
              <a:t>References / Acknowledgments</a:t>
            </a:r>
            <a:endParaRPr b="1" sz="3733">
              <a:solidFill>
                <a:srgbClr val="F66900"/>
              </a:solidFill>
            </a:endParaRPr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731375"/>
            <a:ext cx="8520600" cy="4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Mirza &amp; Osindero — Conditional Generative Adversarial Nets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Radford et al. — DCGAN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Isola et al. — pix2pix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Zhu et al. — CycleGAN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Defect-Transfer GAN paper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Advisor: Abu Islam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Co-mentor / support: Sri Priya Das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RIT Research </a:t>
            </a:r>
            <a:r>
              <a:rPr b="1" lang="en-GB" sz="1600"/>
              <a:t>Computing</a:t>
            </a:r>
            <a:endParaRPr b="1"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1800775" y="2095350"/>
            <a:ext cx="5413200" cy="5976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Thank You!</a:t>
            </a:r>
            <a:endParaRPr b="1"/>
          </a:p>
        </p:txBody>
      </p:sp>
      <p:pic>
        <p:nvPicPr>
          <p:cNvPr descr="File:RIT 2018 logo CAD Ceramics rgb vert w.svg - Wikimedia Commons" id="309" name="Google Shape;309;p49"/>
          <p:cNvPicPr preferRelativeResize="0"/>
          <p:nvPr/>
        </p:nvPicPr>
        <p:blipFill rotWithShape="1">
          <a:blip r:embed="rId4">
            <a:alphaModFix/>
          </a:blip>
          <a:srcRect b="55581" l="0" r="0" t="5155"/>
          <a:stretch/>
        </p:blipFill>
        <p:spPr>
          <a:xfrm>
            <a:off x="7544050" y="4507900"/>
            <a:ext cx="1288175" cy="5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