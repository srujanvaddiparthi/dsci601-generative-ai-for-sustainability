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embeddedFontLst>
    <p:embeddedFont>
      <p:font typeface="Instrument Sans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  <p:embeddedFont>
      <p:font typeface="DM Mono"/>
      <p:regular r:id="rId29"/>
      <p: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N3NU1vMXP3DHN04fLt/kqvzgH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InstrumentSans-bold.fntdata"/><Relationship Id="rId21" Type="http://schemas.openxmlformats.org/officeDocument/2006/relationships/font" Target="fonts/InstrumentSans-regular.fntdata"/><Relationship Id="rId24" Type="http://schemas.openxmlformats.org/officeDocument/2006/relationships/font" Target="fonts/InstrumentSans-boldItalic.fntdata"/><Relationship Id="rId23" Type="http://schemas.openxmlformats.org/officeDocument/2006/relationships/font" Target="fonts/Instrument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DM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702c84c9f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9702c84c9f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9702c84c9f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703278a71_4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9703278a71_4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9703278a71_4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702c84c9f_1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9702c84c9f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9702c84c9f_1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41.png"/><Relationship Id="rId7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jpg"/><Relationship Id="rId4" Type="http://schemas.openxmlformats.org/officeDocument/2006/relationships/image" Target="../media/image31.pn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5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185" l="0" r="16207" t="0"/>
          <a:stretch/>
        </p:blipFill>
        <p:spPr>
          <a:xfrm>
            <a:off x="4219575" y="0"/>
            <a:ext cx="49244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328613" y="304800"/>
            <a:ext cx="26670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76225" y="4395788"/>
            <a:ext cx="2690813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SUPERVISOR: ABU ISLAM, SRI PRIYA DAS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GOLISANO INSTITUTE FOR SUSTAINABILITY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ROCHESTER INSTITUTE OF TECHNOLOGY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6225" y="902950"/>
            <a:ext cx="5423400" cy="20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563"/>
              <a:buFont typeface="DM Mono"/>
              <a:buNone/>
            </a:pPr>
            <a:r>
              <a:rPr b="1" i="0" lang="en-US" sz="3563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Generating Useful Surface Defect Images When Real Data  </a:t>
            </a:r>
            <a:br>
              <a:rPr b="1" i="0" lang="en-US" sz="3563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</a:br>
            <a:r>
              <a:rPr b="1" i="0" lang="en-US" sz="3563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Is Scarce</a:t>
            </a:r>
            <a:endParaRPr b="1" i="0" sz="3563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6225" y="3434525"/>
            <a:ext cx="4501500" cy="9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9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65"/>
              <a:buFont typeface="Instrument Sans"/>
              <a:buNone/>
            </a:pPr>
            <a:r>
              <a:rPr b="0" i="0" lang="en-US" sz="2565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Conditional GAN experiments on metal surface defects</a:t>
            </a:r>
            <a:endParaRPr b="0" i="0" sz="2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3288" y="223838"/>
            <a:ext cx="1723273" cy="261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0" y="4429125"/>
            <a:ext cx="14287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" name="Google Shape;2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224213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"/>
          <p:cNvSpPr/>
          <p:nvPr/>
        </p:nvSpPr>
        <p:spPr>
          <a:xfrm>
            <a:off x="7715250" y="0"/>
            <a:ext cx="1428750" cy="714375"/>
          </a:xfrm>
          <a:prstGeom prst="rect">
            <a:avLst/>
          </a:prstGeom>
          <a:solidFill>
            <a:srgbClr val="FF85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457700"/>
            <a:ext cx="28575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328613" y="304800"/>
            <a:ext cx="267176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8613" y="4733925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0" y="1309688"/>
            <a:ext cx="1266825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</a:t>
            </a:r>
            <a:r>
              <a:rPr lang="en-US" sz="3563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2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0" y="1933575"/>
            <a:ext cx="12668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Research question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329363" y="2790825"/>
            <a:ext cx="1266825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563"/>
              <a:buFont typeface="DM Mono"/>
              <a:buNone/>
            </a:pPr>
            <a:r>
              <a:rPr lang="en-US" sz="3563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05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024563" y="3414713"/>
            <a:ext cx="187166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Key lessons, challenges, and next steps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419475" y="1309688"/>
            <a:ext cx="1266825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01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371850" y="1933575"/>
            <a:ext cx="13620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Why this problem matters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029075" y="2790825"/>
            <a:ext cx="1257300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563"/>
              <a:buFont typeface="DM Mono"/>
              <a:buNone/>
            </a:pPr>
            <a:r>
              <a:rPr lang="en-US" sz="3563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795713" y="3414713"/>
            <a:ext cx="18764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Experimental progression and results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688931" y="1328738"/>
            <a:ext cx="1266825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</a:t>
            </a:r>
            <a:r>
              <a:rPr lang="en-US" sz="3563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3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591300" y="1933575"/>
            <a:ext cx="145732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How a conditional GAN works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97656" y="1257300"/>
            <a:ext cx="270033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560"/>
              <a:buFont typeface="Instrument Sans"/>
              <a:buNone/>
            </a:pPr>
            <a:r>
              <a:rPr b="1" i="0" lang="en-US" sz="4560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Agenda</a:t>
            </a:r>
            <a:endParaRPr b="0" i="0" sz="4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758238" y="4733925"/>
            <a:ext cx="523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2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6225" y="223838"/>
            <a:ext cx="1065163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304800" y="171450"/>
            <a:ext cx="26670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424113" y="1081088"/>
            <a:ext cx="2095500" cy="490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328613" y="4924425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02419" y="595313"/>
            <a:ext cx="415766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FF853E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FF853E"/>
                </a:solidFill>
                <a:latin typeface="DM Mono"/>
                <a:ea typeface="DM Mono"/>
                <a:cs typeface="DM Mono"/>
                <a:sym typeface="DM Mono"/>
              </a:rPr>
              <a:t>Why this problem matters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95813" y="771525"/>
            <a:ext cx="421481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-Defect images are often scarce in industrial settings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95813" y="1166813"/>
            <a:ext cx="421481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-Small datasets limit computer vision performance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95813" y="1571625"/>
            <a:ext cx="40290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-Useful synthetic images could support inspection,        reuse, and reduced waste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703325" y="4514850"/>
            <a:ext cx="6486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55"/>
              <a:buFont typeface="DM Sans"/>
              <a:buNone/>
            </a:pPr>
            <a:r>
              <a:rPr b="0" i="0" lang="en-US" sz="855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This is not a general image-generation problem. It is a low-data, defect-faithful industrial generation problem.</a:t>
            </a:r>
            <a:endParaRPr b="0" i="0" sz="8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252413" y="2151863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" name="Google Shape;60;p3"/>
          <p:cNvCxnSpPr/>
          <p:nvPr/>
        </p:nvCxnSpPr>
        <p:spPr>
          <a:xfrm>
            <a:off x="304800" y="533400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1" name="Google Shape;61;p3"/>
          <p:cNvCxnSpPr/>
          <p:nvPr/>
        </p:nvCxnSpPr>
        <p:spPr>
          <a:xfrm>
            <a:off x="304800" y="4800600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8758238" y="4924425"/>
            <a:ext cx="523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3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" name="Google Shape;64;p3"/>
          <p:cNvGrpSpPr/>
          <p:nvPr/>
        </p:nvGrpSpPr>
        <p:grpSpPr>
          <a:xfrm>
            <a:off x="1703314" y="2353112"/>
            <a:ext cx="5737360" cy="1999814"/>
            <a:chOff x="1703314" y="2353112"/>
            <a:chExt cx="5737360" cy="1999814"/>
          </a:xfrm>
        </p:grpSpPr>
        <p:sp>
          <p:nvSpPr>
            <p:cNvPr id="65" name="Google Shape;65;p3"/>
            <p:cNvSpPr/>
            <p:nvPr/>
          </p:nvSpPr>
          <p:spPr>
            <a:xfrm>
              <a:off x="2338388" y="4138613"/>
              <a:ext cx="6286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853E"/>
                </a:buClr>
                <a:buSzPts val="1140"/>
                <a:buFont typeface="DM Sans"/>
                <a:buNone/>
              </a:pPr>
              <a:r>
                <a:rPr b="0" i="0" lang="en-US" sz="1140" u="none" cap="none" strike="noStrike">
                  <a:solidFill>
                    <a:srgbClr val="FF853E"/>
                  </a:solidFill>
                  <a:latin typeface="DM Sans"/>
                  <a:ea typeface="DM Sans"/>
                  <a:cs typeface="DM Sans"/>
                  <a:sym typeface="DM Sans"/>
                </a:rPr>
                <a:t>Normal</a:t>
              </a:r>
              <a:endParaRPr b="0" i="0" sz="11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281488" y="4138613"/>
              <a:ext cx="6286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853E"/>
                </a:buClr>
                <a:buSzPts val="1140"/>
                <a:buFont typeface="DM Sans"/>
                <a:buNone/>
              </a:pPr>
              <a:r>
                <a:rPr b="0" i="0" lang="en-US" sz="1140" u="none" cap="none" strike="noStrike">
                  <a:solidFill>
                    <a:srgbClr val="FF853E"/>
                  </a:solidFill>
                  <a:latin typeface="DM Sans"/>
                  <a:ea typeface="DM Sans"/>
                  <a:cs typeface="DM Sans"/>
                  <a:sym typeface="DM Sans"/>
                </a:rPr>
                <a:t>Scratch</a:t>
              </a:r>
              <a:endParaRPr b="0" i="0" sz="11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191250" y="4138613"/>
              <a:ext cx="6286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853E"/>
                </a:buClr>
                <a:buSzPts val="1140"/>
                <a:buFont typeface="DM Sans"/>
                <a:buNone/>
              </a:pPr>
              <a:r>
                <a:rPr b="0" i="0" lang="en-US" sz="1140" u="none" cap="none" strike="noStrike">
                  <a:solidFill>
                    <a:srgbClr val="FF853E"/>
                  </a:solidFill>
                  <a:latin typeface="DM Sans"/>
                  <a:ea typeface="DM Sans"/>
                  <a:cs typeface="DM Sans"/>
                  <a:sym typeface="DM Sans"/>
                </a:rPr>
                <a:t>Spot</a:t>
              </a:r>
              <a:endParaRPr b="0" i="0" sz="11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3" title="normal_00005.jp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03314" y="2353112"/>
              <a:ext cx="1761246" cy="1761246"/>
            </a:xfrm>
            <a:prstGeom prst="rect">
              <a:avLst/>
            </a:prstGeom>
            <a:noFill/>
            <a:ln cap="flat" cmpd="sng" w="7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69" name="Google Shape;69;p3" title="scratches_00011.jp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691372" y="2353113"/>
              <a:ext cx="1761246" cy="1761246"/>
            </a:xfrm>
            <a:prstGeom prst="rect">
              <a:avLst/>
            </a:prstGeom>
            <a:noFill/>
            <a:ln cap="flat" cmpd="sng" w="7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70" name="Google Shape;70;p3" title="spots_00033.jp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679428" y="2353113"/>
              <a:ext cx="1761246" cy="1761246"/>
            </a:xfrm>
            <a:prstGeom prst="rect">
              <a:avLst/>
            </a:prstGeom>
            <a:noFill/>
            <a:ln cap="flat" cmpd="sng" w="77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53E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/>
          <p:nvPr/>
        </p:nvSpPr>
        <p:spPr>
          <a:xfrm>
            <a:off x="304800" y="180975"/>
            <a:ext cx="26812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28613" y="4838700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04800" y="590550"/>
            <a:ext cx="853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560"/>
              <a:buFont typeface="Instrument Sans"/>
              <a:buNone/>
            </a:pPr>
            <a:r>
              <a:rPr b="1" i="0" lang="en-US" sz="4560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Research Question</a:t>
            </a:r>
            <a:endParaRPr b="0" i="0" sz="4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" name="Google Shape;79;p4"/>
          <p:cNvGrpSpPr/>
          <p:nvPr/>
        </p:nvGrpSpPr>
        <p:grpSpPr>
          <a:xfrm>
            <a:off x="304800" y="3033713"/>
            <a:ext cx="2505075" cy="1281113"/>
            <a:chOff x="304800" y="3033713"/>
            <a:chExt cx="2505075" cy="1281113"/>
          </a:xfrm>
        </p:grpSpPr>
        <p:sp>
          <p:nvSpPr>
            <p:cNvPr id="80" name="Google Shape;80;p4"/>
            <p:cNvSpPr/>
            <p:nvPr/>
          </p:nvSpPr>
          <p:spPr>
            <a:xfrm>
              <a:off x="304800" y="3033713"/>
              <a:ext cx="2505075" cy="1281113"/>
            </a:xfrm>
            <a:prstGeom prst="rect">
              <a:avLst/>
            </a:prstGeom>
            <a:solidFill>
              <a:srgbClr val="F6F4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423863" y="3148013"/>
              <a:ext cx="22669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Question 1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423863" y="3357563"/>
              <a:ext cx="2266950" cy="785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496"/>
                <a:buFont typeface="DM Sans"/>
                <a:buNone/>
              </a:pPr>
              <a:r>
                <a:rPr b="0" i="0" lang="en-US" sz="1496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Can the model generate the defect type I ask for?</a:t>
              </a:r>
              <a:endParaRPr b="0" i="0" sz="14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4"/>
          <p:cNvSpPr/>
          <p:nvPr/>
        </p:nvSpPr>
        <p:spPr>
          <a:xfrm>
            <a:off x="328613" y="2438400"/>
            <a:ext cx="3114675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6"/>
              <a:buFont typeface="DM Sans"/>
              <a:buNone/>
            </a:pPr>
            <a:r>
              <a:rPr b="0" i="0" lang="en-US" sz="149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 wanted to understand:</a:t>
            </a:r>
            <a:endParaRPr b="0" i="0" sz="14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3224213" y="3033713"/>
            <a:ext cx="2338388" cy="1281113"/>
            <a:chOff x="3224213" y="3033713"/>
            <a:chExt cx="2338388" cy="1281113"/>
          </a:xfrm>
        </p:grpSpPr>
        <p:sp>
          <p:nvSpPr>
            <p:cNvPr id="85" name="Google Shape;85;p4"/>
            <p:cNvSpPr/>
            <p:nvPr/>
          </p:nvSpPr>
          <p:spPr>
            <a:xfrm>
              <a:off x="3224213" y="3033713"/>
              <a:ext cx="2338388" cy="1281113"/>
            </a:xfrm>
            <a:prstGeom prst="rect">
              <a:avLst/>
            </a:prstGeom>
            <a:solidFill>
              <a:srgbClr val="F6F4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343275" y="3148013"/>
              <a:ext cx="21002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Question 2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3343275" y="3357563"/>
              <a:ext cx="2100263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496"/>
                <a:buFont typeface="DM Sans"/>
                <a:buNone/>
              </a:pPr>
              <a:r>
                <a:rPr b="0" i="0" lang="en-US" sz="1496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Which defect types are easier to learn?</a:t>
              </a:r>
              <a:endParaRPr b="0" i="0" sz="14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4"/>
          <p:cNvGrpSpPr/>
          <p:nvPr/>
        </p:nvGrpSpPr>
        <p:grpSpPr>
          <a:xfrm>
            <a:off x="5943600" y="3043238"/>
            <a:ext cx="3019425" cy="1271588"/>
            <a:chOff x="5943600" y="3043238"/>
            <a:chExt cx="3019425" cy="1271588"/>
          </a:xfrm>
        </p:grpSpPr>
        <p:sp>
          <p:nvSpPr>
            <p:cNvPr id="89" name="Google Shape;89;p4"/>
            <p:cNvSpPr/>
            <p:nvPr/>
          </p:nvSpPr>
          <p:spPr>
            <a:xfrm>
              <a:off x="5943600" y="3043238"/>
              <a:ext cx="3019425" cy="1271588"/>
            </a:xfrm>
            <a:prstGeom prst="rect">
              <a:avLst/>
            </a:prstGeom>
            <a:solidFill>
              <a:srgbClr val="F6F4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6062663" y="3157538"/>
              <a:ext cx="27813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Question 3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6062663" y="3367088"/>
              <a:ext cx="2781300" cy="785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496"/>
                <a:buFont typeface="DM Sans"/>
                <a:buNone/>
              </a:pPr>
              <a:r>
                <a:rPr b="0" i="0" lang="en-US" sz="1496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What improves output quality when data is both scarce and imbalanced?</a:t>
              </a:r>
              <a:endParaRPr b="0" i="0" sz="14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4"/>
          <p:cNvSpPr/>
          <p:nvPr/>
        </p:nvSpPr>
        <p:spPr>
          <a:xfrm>
            <a:off x="8758238" y="4867275"/>
            <a:ext cx="523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4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304800" y="1314450"/>
            <a:ext cx="77247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9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65"/>
              <a:buFont typeface="Instrument Sans"/>
              <a:buNone/>
            </a:pPr>
            <a:r>
              <a:rPr b="0" i="0" lang="en-US" sz="2565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Can AI generate useful defect images when real surface-defect data is scarce?</a:t>
            </a:r>
            <a:endParaRPr b="0" i="0" sz="2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4"/>
          <p:cNvCxnSpPr/>
          <p:nvPr/>
        </p:nvCxnSpPr>
        <p:spPr>
          <a:xfrm>
            <a:off x="304800" y="2295525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304800" y="590550"/>
            <a:ext cx="8539163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560"/>
              <a:buFont typeface="Instrument Sans"/>
              <a:buNone/>
            </a:pPr>
            <a:r>
              <a:rPr b="1" i="0" lang="en-US" sz="4560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a Conditional GAN Works</a:t>
            </a:r>
            <a:endParaRPr b="0" i="0" sz="4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710988" y="3095625"/>
            <a:ext cx="60483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Caption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36723" y="4483950"/>
            <a:ext cx="5438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The label steers what the generator creates and what the discriminator expects.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758238" y="4838700"/>
            <a:ext cx="523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5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304800" y="180975"/>
            <a:ext cx="26812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28613" y="4838700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6800825" y="1171563"/>
            <a:ext cx="18348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9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65"/>
              <a:buFont typeface="Instrument Sans"/>
              <a:buNone/>
            </a:pPr>
            <a:r>
              <a:rPr b="0" i="0" lang="en-US" sz="1600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(Simplified)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870" y="1241438"/>
            <a:ext cx="6915730" cy="3172637"/>
          </a:xfrm>
          <a:prstGeom prst="rect">
            <a:avLst/>
          </a:prstGeom>
          <a:noFill/>
          <a:ln cap="flat" cmpd="sng" w="19050">
            <a:solidFill>
              <a:srgbClr val="6F706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53E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304800" y="180975"/>
            <a:ext cx="26812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28613" y="4838700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04800" y="590550"/>
            <a:ext cx="853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560"/>
              <a:buFont typeface="Instrument Sans"/>
              <a:buNone/>
            </a:pPr>
            <a:r>
              <a:rPr b="1" i="0" lang="en-US" sz="4560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I Judged Progress</a:t>
            </a:r>
            <a:endParaRPr b="0" i="0" sz="4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585900" y="4024313"/>
            <a:ext cx="1681200" cy="4572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1745444" y="4138612"/>
            <a:ext cx="13620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96"/>
              <a:buFont typeface="DM Sans"/>
              <a:buNone/>
            </a:pPr>
            <a:r>
              <a:rPr b="0" i="0" lang="en-US" sz="1496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Visual Realism</a:t>
            </a:r>
            <a:endParaRPr b="0" i="0" sz="14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786188" y="1847850"/>
            <a:ext cx="2033588" cy="4572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919537" y="1962150"/>
            <a:ext cx="1766888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96"/>
              <a:buFont typeface="DM Sans"/>
              <a:buNone/>
            </a:pPr>
            <a:r>
              <a:rPr b="0" i="0" lang="en-US" sz="1496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Class Consistency</a:t>
            </a:r>
            <a:endParaRPr b="0" i="0" sz="14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338900" y="4024313"/>
            <a:ext cx="1271700" cy="4572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550831" y="4138613"/>
            <a:ext cx="8478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96"/>
              <a:buFont typeface="DM Sans"/>
              <a:buNone/>
            </a:pPr>
            <a:r>
              <a:rPr b="0" i="0" lang="en-US" sz="1496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Diversity</a:t>
            </a:r>
            <a:endParaRPr b="0" i="0" sz="14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758238" y="4867275"/>
            <a:ext cx="523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304800" y="1319213"/>
            <a:ext cx="77247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9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65"/>
              <a:buFont typeface="Instrument Sans"/>
              <a:buNone/>
            </a:pPr>
            <a:r>
              <a:rPr b="0" i="0" lang="en-US" sz="2565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How I evaluated outputs:</a:t>
            </a:r>
            <a:endParaRPr b="0" i="0" sz="2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267075" y="2305050"/>
            <a:ext cx="3071813" cy="1938337"/>
          </a:xfrm>
          <a:prstGeom prst="triangle">
            <a:avLst>
              <a:gd fmla="val 50000" name="adj"/>
            </a:avLst>
          </a:prstGeom>
          <a:noFill/>
          <a:ln cap="flat" cmpd="sng" w="1807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5863" y="3328988"/>
            <a:ext cx="3524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5188" y="3567113"/>
            <a:ext cx="509587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6838" y="3548063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6425" y="1476375"/>
            <a:ext cx="581025" cy="5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02c84c9f_1_1"/>
          <p:cNvSpPr/>
          <p:nvPr/>
        </p:nvSpPr>
        <p:spPr>
          <a:xfrm>
            <a:off x="304800" y="171450"/>
            <a:ext cx="26670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9702c84c9f_1_1"/>
          <p:cNvSpPr/>
          <p:nvPr/>
        </p:nvSpPr>
        <p:spPr>
          <a:xfrm>
            <a:off x="2424113" y="853788"/>
            <a:ext cx="2095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9702c84c9f_1_1"/>
          <p:cNvSpPr/>
          <p:nvPr/>
        </p:nvSpPr>
        <p:spPr>
          <a:xfrm>
            <a:off x="328613" y="4924425"/>
            <a:ext cx="26907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9702c84c9f_1_1"/>
          <p:cNvSpPr/>
          <p:nvPr/>
        </p:nvSpPr>
        <p:spPr>
          <a:xfrm>
            <a:off x="302419" y="368013"/>
            <a:ext cx="44814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FF853E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FF853E"/>
                </a:solidFill>
                <a:latin typeface="DM Mono"/>
                <a:ea typeface="DM Mono"/>
                <a:cs typeface="DM Mono"/>
                <a:sym typeface="DM Mono"/>
              </a:rPr>
              <a:t>Starting Point: 3-Class Baseline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9702c84c9f_1_1"/>
          <p:cNvSpPr/>
          <p:nvPr/>
        </p:nvSpPr>
        <p:spPr>
          <a:xfrm>
            <a:off x="5219700" y="544225"/>
            <a:ext cx="3586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-One cDCGAN for normal / scratch / spot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9702c84c9f_1_1"/>
          <p:cNvSpPr/>
          <p:nvPr/>
        </p:nvSpPr>
        <p:spPr>
          <a:xfrm>
            <a:off x="5219700" y="853788"/>
            <a:ext cx="35862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-Learned shared metal texture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9702c84c9f_1_1"/>
          <p:cNvSpPr/>
          <p:nvPr/>
        </p:nvSpPr>
        <p:spPr>
          <a:xfrm>
            <a:off x="5219700" y="1163350"/>
            <a:ext cx="34290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-Weak defect-specific generation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9702c84c9f_1_1"/>
          <p:cNvSpPr/>
          <p:nvPr/>
        </p:nvSpPr>
        <p:spPr>
          <a:xfrm>
            <a:off x="7113050" y="2712475"/>
            <a:ext cx="16452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55"/>
              <a:buFont typeface="DM Sans"/>
              <a:buNone/>
            </a:pPr>
            <a:r>
              <a:rPr b="0" i="1" lang="en-US" sz="1355" u="none" cap="none" strike="noStrike">
                <a:solidFill>
                  <a:srgbClr val="38761D"/>
                </a:solidFill>
                <a:latin typeface="DM Sans"/>
                <a:ea typeface="DM Sans"/>
                <a:cs typeface="DM Sans"/>
                <a:sym typeface="DM Sans"/>
              </a:rPr>
              <a:t>The 3-class setup learned metal texture better than defect structure.</a:t>
            </a:r>
            <a:endParaRPr b="0" i="1" sz="1355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9702c84c9f_1_1"/>
          <p:cNvSpPr/>
          <p:nvPr/>
        </p:nvSpPr>
        <p:spPr>
          <a:xfrm>
            <a:off x="302437" y="1437501"/>
            <a:ext cx="1505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853E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FF853E"/>
                </a:solidFill>
                <a:latin typeface="DM Sans"/>
                <a:ea typeface="DM Sans"/>
                <a:cs typeface="DM Sans"/>
                <a:sym typeface="DM Sans"/>
              </a:rPr>
              <a:t>Generated Output: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9702c84c9f_1_1"/>
          <p:cNvSpPr/>
          <p:nvPr/>
        </p:nvSpPr>
        <p:spPr>
          <a:xfrm>
            <a:off x="8758238" y="4924425"/>
            <a:ext cx="525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7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g39702c84c9f_1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9702c84c9f_1_1" title="epoch_0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625" y="1662530"/>
            <a:ext cx="6455782" cy="3323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304800" y="171450"/>
            <a:ext cx="26670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2424113" y="1081088"/>
            <a:ext cx="2095500" cy="490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28613" y="4924425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02419" y="595313"/>
            <a:ext cx="448151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FF853E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FF853E"/>
                </a:solidFill>
                <a:latin typeface="DM Mono"/>
                <a:ea typeface="DM Mono"/>
                <a:cs typeface="DM Mono"/>
                <a:sym typeface="DM Mono"/>
              </a:rPr>
              <a:t>Why I Simplified the Problem?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28625" y="2193978"/>
            <a:ext cx="77733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64"/>
              <a:buFont typeface="DM Sans"/>
              <a:buNone/>
            </a:pPr>
            <a:r>
              <a:rPr b="0" i="0" lang="en-US" sz="1864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-The 3-class setup weakened class-specific generation.</a:t>
            </a:r>
            <a:endParaRPr b="0" i="0" sz="1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28625" y="2700254"/>
            <a:ext cx="58650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64"/>
              <a:buFont typeface="DM Sans"/>
              <a:buNone/>
            </a:pPr>
            <a:r>
              <a:rPr b="0" i="0" lang="en-US" sz="1864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-I split the problem into:</a:t>
            </a:r>
            <a:endParaRPr b="0" i="0" sz="1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28625" y="3977625"/>
            <a:ext cx="91440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64"/>
              <a:buFont typeface="DM Sans"/>
              <a:buNone/>
            </a:pPr>
            <a:r>
              <a:rPr b="0" i="0" lang="en-US" sz="1864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-I trained each setup for the same </a:t>
            </a:r>
            <a:r>
              <a:rPr b="0" i="0" lang="en-US" sz="1864" u="sng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number of epochs</a:t>
            </a:r>
            <a:r>
              <a:rPr b="0" i="0" lang="en-US" sz="1864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, and also </a:t>
            </a:r>
            <a:r>
              <a:rPr b="0" i="0" lang="en-US" sz="1864" u="sng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checked intermediate results</a:t>
            </a:r>
            <a:r>
              <a:rPr b="0" i="0" lang="en-US" sz="1864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i="0" sz="1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40180" y="3074119"/>
            <a:ext cx="34269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60798" lvl="0" marL="56079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C691D"/>
              </a:buClr>
              <a:buSzPts val="1864"/>
              <a:buFont typeface="DM Sans"/>
              <a:buChar char="•"/>
            </a:pPr>
            <a:r>
              <a:rPr b="0" i="0" lang="en-US" sz="1864" u="none" cap="none" strike="noStrike">
                <a:solidFill>
                  <a:srgbClr val="EC691D"/>
                </a:solidFill>
                <a:latin typeface="DM Sans"/>
                <a:ea typeface="DM Sans"/>
                <a:cs typeface="DM Sans"/>
                <a:sym typeface="DM Sans"/>
              </a:rPr>
              <a:t>normal vs scratch</a:t>
            </a:r>
            <a:endParaRPr b="0" i="0" sz="1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60798" lvl="0" marL="56079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C691D"/>
              </a:buClr>
              <a:buSzPts val="1864"/>
              <a:buFont typeface="DM Sans"/>
              <a:buChar char="•"/>
            </a:pPr>
            <a:r>
              <a:rPr b="0" i="0" lang="en-US" sz="1864" u="none" cap="none" strike="noStrike">
                <a:solidFill>
                  <a:srgbClr val="EC691D"/>
                </a:solidFill>
                <a:latin typeface="DM Sans"/>
                <a:ea typeface="DM Sans"/>
                <a:cs typeface="DM Sans"/>
                <a:sym typeface="DM Sans"/>
              </a:rPr>
              <a:t>normal vs spot</a:t>
            </a:r>
            <a:endParaRPr b="0" i="0" sz="1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304800" y="533400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3" name="Google Shape;163;p8"/>
          <p:cNvCxnSpPr/>
          <p:nvPr/>
        </p:nvCxnSpPr>
        <p:spPr>
          <a:xfrm>
            <a:off x="304800" y="4800600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4" name="Google Shape;164;p8"/>
          <p:cNvSpPr/>
          <p:nvPr/>
        </p:nvSpPr>
        <p:spPr>
          <a:xfrm>
            <a:off x="8758238" y="4924425"/>
            <a:ext cx="523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8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5" name="Google Shape;1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304800" y="1790788"/>
            <a:ext cx="6087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9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65"/>
              <a:buFont typeface="Instrument Sans"/>
              <a:buNone/>
            </a:pPr>
            <a:r>
              <a:rPr b="0" i="0" lang="en-US" sz="2565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3 classes to binary experiments.</a:t>
            </a:r>
            <a:endParaRPr b="0" i="0" sz="2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304800" y="171450"/>
            <a:ext cx="26670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28613" y="4924425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04800" y="171450"/>
            <a:ext cx="8767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Normal vs Scratch: What Changed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8758238" y="4924425"/>
            <a:ext cx="523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9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5476863" y="1435900"/>
            <a:ext cx="23814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" name="Google Shape;178;p9"/>
          <p:cNvGrpSpPr/>
          <p:nvPr/>
        </p:nvGrpSpPr>
        <p:grpSpPr>
          <a:xfrm>
            <a:off x="5438763" y="1407325"/>
            <a:ext cx="2457450" cy="1285875"/>
            <a:chOff x="6396038" y="1428750"/>
            <a:chExt cx="2457450" cy="1285875"/>
          </a:xfrm>
        </p:grpSpPr>
        <p:sp>
          <p:nvSpPr>
            <p:cNvPr id="179" name="Google Shape;179;p9"/>
            <p:cNvSpPr/>
            <p:nvPr/>
          </p:nvSpPr>
          <p:spPr>
            <a:xfrm>
              <a:off x="6396038" y="1428750"/>
              <a:ext cx="2457450" cy="1285875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80" name="Google Shape;18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31756" y="1771650"/>
              <a:ext cx="2381250" cy="6334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181" name="Google Shape;181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12856" y="1457325"/>
              <a:ext cx="4763" cy="1228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9"/>
            <p:cNvSpPr/>
            <p:nvPr/>
          </p:nvSpPr>
          <p:spPr>
            <a:xfrm>
              <a:off x="6715125" y="1533525"/>
              <a:ext cx="6477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1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Evaluation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6629400" y="1847850"/>
              <a:ext cx="823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Visual Realism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6491288" y="2162175"/>
              <a:ext cx="10668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Class Consistency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6767513" y="2476500"/>
              <a:ext cx="5143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Diversity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7839075" y="1533525"/>
              <a:ext cx="7000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1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Judgement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7958138" y="1847850"/>
              <a:ext cx="4572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Medium</a:t>
              </a:r>
              <a:endParaRPr b="0" i="0" sz="855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7943850" y="2162175"/>
              <a:ext cx="4572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Medium</a:t>
              </a:r>
              <a:endParaRPr b="0" i="0" sz="855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8062913" y="2476500"/>
              <a:ext cx="2238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highlight>
                    <a:srgbClr val="EA9999"/>
                  </a:highlight>
                  <a:latin typeface="DM Sans"/>
                  <a:ea typeface="DM Sans"/>
                  <a:cs typeface="DM Sans"/>
                  <a:sym typeface="DM Sans"/>
                </a:rPr>
                <a:t>Low</a:t>
              </a:r>
              <a:endParaRPr b="0" i="0" sz="855" u="none" cap="none" strike="noStrike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9"/>
          <p:cNvSpPr/>
          <p:nvPr/>
        </p:nvSpPr>
        <p:spPr>
          <a:xfrm>
            <a:off x="5438775" y="3104000"/>
            <a:ext cx="25653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6690" lvl="0" marL="1714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Binary setup + enhancement improved scratch-vs-normal separation</a:t>
            </a:r>
            <a:endParaRPr sz="11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6690" lvl="0" marL="17145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Diversity stayed low, and scratches were still hard  to model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9" title="epoch_20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9" title="epoch_2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7526" y="3081642"/>
            <a:ext cx="4619501" cy="193838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sng">
                <a:solidFill>
                  <a:srgbClr val="595959"/>
                </a:solidFill>
              </a:rPr>
              <a:t>Baseline Output:</a:t>
            </a:r>
            <a:endParaRPr b="1" sz="1150" u="sng">
              <a:solidFill>
                <a:srgbClr val="595959"/>
              </a:solidFill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311700" y="27932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sng">
                <a:solidFill>
                  <a:srgbClr val="595959"/>
                </a:solidFill>
              </a:rPr>
              <a:t>Final Setup Output</a:t>
            </a:r>
            <a:endParaRPr b="1" sz="1150" u="sng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703278a71_4_57"/>
          <p:cNvSpPr/>
          <p:nvPr/>
        </p:nvSpPr>
        <p:spPr>
          <a:xfrm>
            <a:off x="304800" y="171450"/>
            <a:ext cx="26670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9703278a71_4_57"/>
          <p:cNvSpPr/>
          <p:nvPr/>
        </p:nvSpPr>
        <p:spPr>
          <a:xfrm>
            <a:off x="292888" y="4924425"/>
            <a:ext cx="26907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9703278a71_4_57"/>
          <p:cNvSpPr/>
          <p:nvPr/>
        </p:nvSpPr>
        <p:spPr>
          <a:xfrm>
            <a:off x="304800" y="171450"/>
            <a:ext cx="8767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Normal vs Spot: What Changed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9703278a71_4_57"/>
          <p:cNvSpPr/>
          <p:nvPr/>
        </p:nvSpPr>
        <p:spPr>
          <a:xfrm>
            <a:off x="292900" y="897063"/>
            <a:ext cx="1276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Baseline Output: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9703278a71_4_57"/>
          <p:cNvSpPr/>
          <p:nvPr/>
        </p:nvSpPr>
        <p:spPr>
          <a:xfrm>
            <a:off x="8724900" y="4924425"/>
            <a:ext cx="1143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10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g39703278a71_4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9703278a71_4_57"/>
          <p:cNvSpPr/>
          <p:nvPr/>
        </p:nvSpPr>
        <p:spPr>
          <a:xfrm>
            <a:off x="5483313" y="1423913"/>
            <a:ext cx="2381400" cy="2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" name="Google Shape;207;g39703278a71_4_57"/>
          <p:cNvGrpSpPr/>
          <p:nvPr/>
        </p:nvGrpSpPr>
        <p:grpSpPr>
          <a:xfrm>
            <a:off x="5445213" y="1395338"/>
            <a:ext cx="2457600" cy="1285800"/>
            <a:chOff x="6396038" y="1428750"/>
            <a:chExt cx="2457600" cy="1285800"/>
          </a:xfrm>
        </p:grpSpPr>
        <p:sp>
          <p:nvSpPr>
            <p:cNvPr id="208" name="Google Shape;208;g39703278a71_4_57"/>
            <p:cNvSpPr/>
            <p:nvPr/>
          </p:nvSpPr>
          <p:spPr>
            <a:xfrm>
              <a:off x="6396038" y="1428750"/>
              <a:ext cx="2457600" cy="1285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09" name="Google Shape;209;g39703278a71_4_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31756" y="1771650"/>
              <a:ext cx="2381250" cy="6334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210" name="Google Shape;210;g39703278a71_4_5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12856" y="1457325"/>
              <a:ext cx="4763" cy="1228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g39703278a71_4_57"/>
            <p:cNvSpPr/>
            <p:nvPr/>
          </p:nvSpPr>
          <p:spPr>
            <a:xfrm>
              <a:off x="6715125" y="1533525"/>
              <a:ext cx="647700" cy="1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1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Evaluation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g39703278a71_4_57"/>
            <p:cNvSpPr/>
            <p:nvPr/>
          </p:nvSpPr>
          <p:spPr>
            <a:xfrm>
              <a:off x="6629400" y="1847850"/>
              <a:ext cx="823800" cy="1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Visual Realism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g39703278a71_4_57"/>
            <p:cNvSpPr/>
            <p:nvPr/>
          </p:nvSpPr>
          <p:spPr>
            <a:xfrm>
              <a:off x="6491288" y="2162175"/>
              <a:ext cx="1066800" cy="1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Class Consistency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g39703278a71_4_57"/>
            <p:cNvSpPr/>
            <p:nvPr/>
          </p:nvSpPr>
          <p:spPr>
            <a:xfrm>
              <a:off x="6767513" y="2476500"/>
              <a:ext cx="514500" cy="1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Diversity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g39703278a71_4_57"/>
            <p:cNvSpPr/>
            <p:nvPr/>
          </p:nvSpPr>
          <p:spPr>
            <a:xfrm>
              <a:off x="7839075" y="1533525"/>
              <a:ext cx="700200" cy="1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1" i="0" lang="en-US" sz="855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Judgement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g39703278a71_4_57"/>
            <p:cNvSpPr/>
            <p:nvPr/>
          </p:nvSpPr>
          <p:spPr>
            <a:xfrm>
              <a:off x="7958138" y="1847850"/>
              <a:ext cx="457200" cy="1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highlight>
                    <a:srgbClr val="FFFF00"/>
                  </a:highlight>
                  <a:latin typeface="DM Sans"/>
                  <a:ea typeface="DM Sans"/>
                  <a:cs typeface="DM Sans"/>
                  <a:sym typeface="DM Sans"/>
                </a:rPr>
                <a:t>Medium</a:t>
              </a:r>
              <a:endParaRPr b="0" i="0" sz="855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g39703278a71_4_57"/>
            <p:cNvSpPr/>
            <p:nvPr/>
          </p:nvSpPr>
          <p:spPr>
            <a:xfrm>
              <a:off x="8048625" y="2162175"/>
              <a:ext cx="252300" cy="1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highlight>
                    <a:srgbClr val="00FF00"/>
                  </a:highlight>
                  <a:latin typeface="DM Sans"/>
                  <a:ea typeface="DM Sans"/>
                  <a:cs typeface="DM Sans"/>
                  <a:sym typeface="DM Sans"/>
                </a:rPr>
                <a:t>High</a:t>
              </a:r>
              <a:endParaRPr b="0" i="0" sz="855" u="none" cap="none" strike="noStrike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9703278a71_4_57"/>
            <p:cNvSpPr/>
            <p:nvPr/>
          </p:nvSpPr>
          <p:spPr>
            <a:xfrm>
              <a:off x="8062913" y="2476500"/>
              <a:ext cx="223800" cy="1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855"/>
                <a:buFont typeface="DM Sans"/>
                <a:buNone/>
              </a:pPr>
              <a:r>
                <a:rPr b="0" i="0" lang="en-US" sz="855" u="none" cap="none" strike="noStrike">
                  <a:solidFill>
                    <a:srgbClr val="1F1F1F"/>
                  </a:solidFill>
                  <a:highlight>
                    <a:srgbClr val="EA9999"/>
                  </a:highlight>
                  <a:latin typeface="DM Sans"/>
                  <a:ea typeface="DM Sans"/>
                  <a:cs typeface="DM Sans"/>
                  <a:sym typeface="DM Sans"/>
                </a:rPr>
                <a:t>Low</a:t>
              </a:r>
              <a:endParaRPr b="0" i="0" sz="855" u="none" cap="none" strike="noStrike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g39703278a71_4_57"/>
          <p:cNvSpPr/>
          <p:nvPr/>
        </p:nvSpPr>
        <p:spPr>
          <a:xfrm>
            <a:off x="5392825" y="3081263"/>
            <a:ext cx="2552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669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Spots were easier to learn than scratches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669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Class consistency improved, but diversity stayed low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9703278a71_4_57" title="epoch_20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7525" y="926750"/>
            <a:ext cx="4619488" cy="19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9703278a71_4_57" title="epoch_200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7526" y="3081642"/>
            <a:ext cx="4619501" cy="193838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9703278a71_4_57"/>
          <p:cNvSpPr txBox="1"/>
          <p:nvPr/>
        </p:nvSpPr>
        <p:spPr>
          <a:xfrm>
            <a:off x="311700" y="5727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sng">
                <a:solidFill>
                  <a:srgbClr val="595959"/>
                </a:solidFill>
              </a:rPr>
              <a:t>Baseline Output:</a:t>
            </a:r>
            <a:endParaRPr b="1" sz="1150" u="sng">
              <a:solidFill>
                <a:srgbClr val="595959"/>
              </a:solidFill>
            </a:endParaRPr>
          </a:p>
        </p:txBody>
      </p:sp>
      <p:sp>
        <p:nvSpPr>
          <p:cNvPr id="223" name="Google Shape;223;g39703278a71_4_57"/>
          <p:cNvSpPr txBox="1"/>
          <p:nvPr/>
        </p:nvSpPr>
        <p:spPr>
          <a:xfrm>
            <a:off x="311700" y="2793200"/>
            <a:ext cx="5280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sng">
                <a:solidFill>
                  <a:srgbClr val="595959"/>
                </a:solidFill>
              </a:rPr>
              <a:t>Final Setup Output</a:t>
            </a:r>
            <a:endParaRPr b="1" sz="1150" u="sng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304800" y="180975"/>
            <a:ext cx="26812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28613" y="4838700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04800" y="590550"/>
            <a:ext cx="85344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560"/>
              <a:buFont typeface="Instrument Sans"/>
              <a:buNone/>
            </a:pPr>
            <a:r>
              <a:rPr b="1" i="0" lang="en-US" sz="4560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I learned</a:t>
            </a:r>
            <a:endParaRPr b="0" i="0" sz="4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2" name="Google Shape;232;p11"/>
          <p:cNvGrpSpPr/>
          <p:nvPr/>
        </p:nvGrpSpPr>
        <p:grpSpPr>
          <a:xfrm>
            <a:off x="423863" y="3033713"/>
            <a:ext cx="2505075" cy="1281113"/>
            <a:chOff x="423863" y="3033713"/>
            <a:chExt cx="2505075" cy="1281113"/>
          </a:xfrm>
        </p:grpSpPr>
        <p:sp>
          <p:nvSpPr>
            <p:cNvPr id="233" name="Google Shape;233;p11"/>
            <p:cNvSpPr/>
            <p:nvPr/>
          </p:nvSpPr>
          <p:spPr>
            <a:xfrm>
              <a:off x="423863" y="3033713"/>
              <a:ext cx="2505075" cy="1281113"/>
            </a:xfrm>
            <a:prstGeom prst="rect">
              <a:avLst/>
            </a:prstGeom>
            <a:solidFill>
              <a:srgbClr val="FF85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542925" y="3148013"/>
              <a:ext cx="2266950" cy="785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496"/>
                <a:buFont typeface="DM Sans"/>
                <a:buNone/>
              </a:pPr>
              <a:r>
                <a:rPr b="0" i="0" lang="en-US" sz="1496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Spot-like defects were easier to generate than scratches</a:t>
              </a:r>
              <a:endParaRPr b="0" i="0" sz="14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11"/>
          <p:cNvGrpSpPr/>
          <p:nvPr/>
        </p:nvGrpSpPr>
        <p:grpSpPr>
          <a:xfrm>
            <a:off x="6086475" y="3033713"/>
            <a:ext cx="2590800" cy="1281113"/>
            <a:chOff x="6086475" y="3033713"/>
            <a:chExt cx="2590800" cy="1281113"/>
          </a:xfrm>
        </p:grpSpPr>
        <p:sp>
          <p:nvSpPr>
            <p:cNvPr id="236" name="Google Shape;236;p11"/>
            <p:cNvSpPr/>
            <p:nvPr/>
          </p:nvSpPr>
          <p:spPr>
            <a:xfrm>
              <a:off x="6086475" y="3033713"/>
              <a:ext cx="2590800" cy="1281113"/>
            </a:xfrm>
            <a:prstGeom prst="rect">
              <a:avLst/>
            </a:prstGeom>
            <a:solidFill>
              <a:srgbClr val="FF85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6205538" y="3148013"/>
              <a:ext cx="237648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496"/>
                <a:buFont typeface="DM Sans"/>
                <a:buNone/>
              </a:pPr>
              <a:r>
                <a:rPr b="0" i="0" lang="en-US" sz="1496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The model could separate classes better, but still repeated similar outputs</a:t>
              </a:r>
              <a:endParaRPr b="0" i="0" sz="14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2986088" y="1452563"/>
            <a:ext cx="3019425" cy="1271588"/>
            <a:chOff x="2986088" y="1452563"/>
            <a:chExt cx="3019425" cy="1271588"/>
          </a:xfrm>
        </p:grpSpPr>
        <p:sp>
          <p:nvSpPr>
            <p:cNvPr id="239" name="Google Shape;239;p11"/>
            <p:cNvSpPr/>
            <p:nvPr/>
          </p:nvSpPr>
          <p:spPr>
            <a:xfrm>
              <a:off x="2986088" y="1452563"/>
              <a:ext cx="3019425" cy="1271588"/>
            </a:xfrm>
            <a:prstGeom prst="rect">
              <a:avLst/>
            </a:prstGeom>
            <a:solidFill>
              <a:srgbClr val="FF85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3105150" y="1566863"/>
              <a:ext cx="278130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496"/>
                <a:buFont typeface="DM Sans"/>
                <a:buNone/>
              </a:pPr>
              <a:r>
                <a:rPr b="0" i="0" lang="en-US" sz="1496" u="none" cap="none" strike="noStrike">
                  <a:solidFill>
                    <a:srgbClr val="1F1F1F"/>
                  </a:solidFill>
                  <a:latin typeface="DM Sans"/>
                  <a:ea typeface="DM Sans"/>
                  <a:cs typeface="DM Sans"/>
                  <a:sym typeface="DM Sans"/>
                </a:rPr>
                <a:t>Repeated examples and limited surface variety strongly shaped what the model learned</a:t>
              </a:r>
              <a:endParaRPr b="0" i="0" sz="149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1"/>
          <p:cNvSpPr/>
          <p:nvPr/>
        </p:nvSpPr>
        <p:spPr>
          <a:xfrm>
            <a:off x="8724900" y="4867275"/>
            <a:ext cx="1143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11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11"/>
          <p:cNvCxnSpPr/>
          <p:nvPr/>
        </p:nvCxnSpPr>
        <p:spPr>
          <a:xfrm>
            <a:off x="285750" y="2867025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53E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702c84c9f_1_37"/>
          <p:cNvSpPr/>
          <p:nvPr/>
        </p:nvSpPr>
        <p:spPr>
          <a:xfrm>
            <a:off x="304800" y="590550"/>
            <a:ext cx="56151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560"/>
              <a:buFont typeface="Instrument Sans"/>
              <a:buNone/>
            </a:pPr>
            <a:r>
              <a:rPr b="1" i="0" lang="en-US" sz="4560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Challenges</a:t>
            </a:r>
            <a:endParaRPr b="0" i="0" sz="4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9702c84c9f_1_37"/>
          <p:cNvSpPr/>
          <p:nvPr/>
        </p:nvSpPr>
        <p:spPr>
          <a:xfrm>
            <a:off x="822050" y="1534232"/>
            <a:ext cx="59328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4"/>
              <a:buFont typeface="DM Sans"/>
              <a:buNone/>
            </a:pPr>
            <a:r>
              <a:rPr b="0" i="0" lang="en-US" sz="1604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Structured defects were harder than localized ones</a:t>
            </a:r>
            <a:endParaRPr b="0" i="0" sz="16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9702c84c9f_1_37"/>
          <p:cNvSpPr/>
          <p:nvPr/>
        </p:nvSpPr>
        <p:spPr>
          <a:xfrm>
            <a:off x="822050" y="2057712"/>
            <a:ext cx="4914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4"/>
              <a:buFont typeface="DM Sans"/>
              <a:buNone/>
            </a:pPr>
            <a:r>
              <a:rPr b="0" i="0" lang="en-US" sz="1604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Narrow and repeated data reduced diversity</a:t>
            </a:r>
            <a:endParaRPr b="0" i="0" sz="16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9702c84c9f_1_37"/>
          <p:cNvSpPr/>
          <p:nvPr/>
        </p:nvSpPr>
        <p:spPr>
          <a:xfrm>
            <a:off x="822050" y="2619938"/>
            <a:ext cx="8551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4"/>
              <a:buFont typeface="DM Sans"/>
              <a:buNone/>
            </a:pPr>
            <a:r>
              <a:rPr b="0" i="0" lang="en-US" sz="1604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The current cDCGAN learned texture more easily than controlled defect structure</a:t>
            </a:r>
            <a:endParaRPr b="0" i="0" sz="16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9702c84c9f_1_37"/>
          <p:cNvSpPr/>
          <p:nvPr/>
        </p:nvSpPr>
        <p:spPr>
          <a:xfrm>
            <a:off x="822050" y="3214138"/>
            <a:ext cx="6711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4"/>
              <a:buFont typeface="DM Sans"/>
              <a:buNone/>
            </a:pPr>
            <a:r>
              <a:rPr b="0" i="0" lang="en-US" sz="1604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Best-looking outputs sometimes appeared before the final epoch</a:t>
            </a:r>
            <a:endParaRPr b="0" i="0" sz="16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9702c84c9f_1_37"/>
          <p:cNvSpPr/>
          <p:nvPr/>
        </p:nvSpPr>
        <p:spPr>
          <a:xfrm>
            <a:off x="8724900" y="4733925"/>
            <a:ext cx="1143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12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9702c84c9f_1_37"/>
          <p:cNvSpPr/>
          <p:nvPr/>
        </p:nvSpPr>
        <p:spPr>
          <a:xfrm>
            <a:off x="304800" y="180975"/>
            <a:ext cx="26814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9702c84c9f_1_37"/>
          <p:cNvSpPr/>
          <p:nvPr/>
        </p:nvSpPr>
        <p:spPr>
          <a:xfrm>
            <a:off x="328613" y="4838700"/>
            <a:ext cx="26907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7" name="Google Shape;257;g39702c84c9f_1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g39702c84c9f_1_37"/>
          <p:cNvSpPr/>
          <p:nvPr/>
        </p:nvSpPr>
        <p:spPr>
          <a:xfrm>
            <a:off x="328613" y="1534188"/>
            <a:ext cx="290400" cy="2904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9702c84c9f_1_37"/>
          <p:cNvSpPr/>
          <p:nvPr/>
        </p:nvSpPr>
        <p:spPr>
          <a:xfrm>
            <a:off x="395288" y="1605625"/>
            <a:ext cx="1572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96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9702c84c9f_1_37"/>
          <p:cNvSpPr/>
          <p:nvPr/>
        </p:nvSpPr>
        <p:spPr>
          <a:xfrm>
            <a:off x="328688" y="2022526"/>
            <a:ext cx="290400" cy="2904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9702c84c9f_1_37"/>
          <p:cNvSpPr/>
          <p:nvPr/>
        </p:nvSpPr>
        <p:spPr>
          <a:xfrm>
            <a:off x="376313" y="2093963"/>
            <a:ext cx="1953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96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9702c84c9f_1_37"/>
          <p:cNvSpPr/>
          <p:nvPr/>
        </p:nvSpPr>
        <p:spPr>
          <a:xfrm>
            <a:off x="328763" y="2582226"/>
            <a:ext cx="290400" cy="2904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9702c84c9f_1_37"/>
          <p:cNvSpPr/>
          <p:nvPr/>
        </p:nvSpPr>
        <p:spPr>
          <a:xfrm>
            <a:off x="374006" y="2653663"/>
            <a:ext cx="200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96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9702c84c9f_1_37"/>
          <p:cNvSpPr/>
          <p:nvPr/>
        </p:nvSpPr>
        <p:spPr>
          <a:xfrm>
            <a:off x="328838" y="3196463"/>
            <a:ext cx="290400" cy="2904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9702c84c9f_1_37"/>
          <p:cNvSpPr/>
          <p:nvPr/>
        </p:nvSpPr>
        <p:spPr>
          <a:xfrm>
            <a:off x="374081" y="3267901"/>
            <a:ext cx="2001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96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53E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1" name="Google Shape;271;p13"/>
          <p:cNvCxnSpPr/>
          <p:nvPr/>
        </p:nvCxnSpPr>
        <p:spPr>
          <a:xfrm>
            <a:off x="304800" y="2733675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3"/>
          <p:cNvSpPr/>
          <p:nvPr/>
        </p:nvSpPr>
        <p:spPr>
          <a:xfrm>
            <a:off x="992981" y="1133475"/>
            <a:ext cx="1671638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992981" y="1133475"/>
            <a:ext cx="167163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25"/>
              <a:buFont typeface="DM Sans"/>
              <a:buNone/>
            </a:pPr>
            <a:r>
              <a:rPr b="1" i="0" lang="en-US" sz="1425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More diverse defect data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860131" y="1133475"/>
            <a:ext cx="2324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4860131" y="1133475"/>
            <a:ext cx="2324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25"/>
              <a:buFont typeface="DM Sans"/>
              <a:buNone/>
            </a:pPr>
            <a:r>
              <a:rPr b="1" i="0" lang="en-US" sz="1425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Image-to-image translation approaches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28650" y="3276600"/>
            <a:ext cx="233838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25"/>
              <a:buFont typeface="DM Sans"/>
              <a:buNone/>
            </a:pPr>
            <a:r>
              <a:rPr b="1" i="0" lang="en-US" sz="1425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Stronger conditioning / better architectures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4986338" y="3252788"/>
            <a:ext cx="20764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25"/>
              <a:buFont typeface="DM Sans"/>
              <a:buNone/>
            </a:pPr>
            <a:r>
              <a:rPr b="1" i="0" lang="en-US" sz="1425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More reliable ways to identify the best outputs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3"/>
          <p:cNvCxnSpPr/>
          <p:nvPr/>
        </p:nvCxnSpPr>
        <p:spPr>
          <a:xfrm rot="-5400000">
            <a:off x="126318" y="1912032"/>
            <a:ext cx="1499964" cy="0"/>
          </a:xfrm>
          <a:prstGeom prst="straightConnector1">
            <a:avLst/>
          </a:prstGeom>
          <a:noFill/>
          <a:ln cap="flat" cmpd="sng" w="22600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9" name="Google Shape;279;p13"/>
          <p:cNvSpPr/>
          <p:nvPr/>
        </p:nvSpPr>
        <p:spPr>
          <a:xfrm>
            <a:off x="733425" y="2586038"/>
            <a:ext cx="290513" cy="290513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797719" y="2624138"/>
            <a:ext cx="1619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2494" y="1162284"/>
            <a:ext cx="23813" cy="149995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/>
          <p:nvPr/>
        </p:nvSpPr>
        <p:spPr>
          <a:xfrm>
            <a:off x="4572000" y="2586038"/>
            <a:ext cx="290513" cy="290513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4614863" y="2624138"/>
            <a:ext cx="2047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0" y="2728912"/>
            <a:ext cx="23813" cy="108108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3"/>
          <p:cNvSpPr/>
          <p:nvPr/>
        </p:nvSpPr>
        <p:spPr>
          <a:xfrm>
            <a:off x="2900363" y="2586038"/>
            <a:ext cx="290513" cy="290513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2945606" y="2624138"/>
            <a:ext cx="200025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7" name="Google Shape;2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5650" y="2728913"/>
            <a:ext cx="33338" cy="1257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3"/>
          <p:cNvSpPr/>
          <p:nvPr/>
        </p:nvSpPr>
        <p:spPr>
          <a:xfrm>
            <a:off x="6958013" y="2586038"/>
            <a:ext cx="290513" cy="290513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7000875" y="2624138"/>
            <a:ext cx="2047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None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304800" y="419100"/>
            <a:ext cx="561498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560"/>
              <a:buFont typeface="Instrument Sans"/>
              <a:buNone/>
            </a:pPr>
            <a:r>
              <a:rPr b="1" i="0" lang="en-US" sz="4560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comes next</a:t>
            </a:r>
            <a:endParaRPr b="0" i="0" sz="4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8724900" y="4733925"/>
            <a:ext cx="1143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13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304800" y="180975"/>
            <a:ext cx="2681288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28613" y="4838700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/>
          <p:nvPr/>
        </p:nvSpPr>
        <p:spPr>
          <a:xfrm>
            <a:off x="304800" y="4267200"/>
            <a:ext cx="8534400" cy="36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383400" y="4364800"/>
            <a:ext cx="8377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55"/>
              <a:buFont typeface="DM Sans"/>
              <a:buNone/>
            </a:pPr>
            <a:r>
              <a:rPr b="0" i="0" lang="en-US" sz="1155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These findings suggest a path from low-data generation experiments toward more controllable and useful defect synthesis.</a:t>
            </a:r>
            <a:endParaRPr b="0" i="0" sz="115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"/>
          <p:cNvSpPr/>
          <p:nvPr/>
        </p:nvSpPr>
        <p:spPr>
          <a:xfrm>
            <a:off x="304800" y="171450"/>
            <a:ext cx="26670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2424113" y="1081088"/>
            <a:ext cx="2095500" cy="490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328613" y="4924425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302419" y="595313"/>
            <a:ext cx="4481513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FF853E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FF853E"/>
                </a:solidFill>
                <a:latin typeface="DM Mono"/>
                <a:ea typeface="DM Mono"/>
                <a:cs typeface="DM Mono"/>
                <a:sym typeface="DM Mono"/>
              </a:rPr>
              <a:t>Conclusion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14"/>
          <p:cNvPicPr preferRelativeResize="0"/>
          <p:nvPr/>
        </p:nvPicPr>
        <p:blipFill rotWithShape="1">
          <a:blip r:embed="rId3">
            <a:alphaModFix/>
          </a:blip>
          <a:srcRect b="185" l="0" r="18525" t="0"/>
          <a:stretch/>
        </p:blipFill>
        <p:spPr>
          <a:xfrm>
            <a:off x="6786530" y="0"/>
            <a:ext cx="418919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4"/>
          <p:cNvSpPr/>
          <p:nvPr/>
        </p:nvSpPr>
        <p:spPr>
          <a:xfrm>
            <a:off x="247650" y="1571625"/>
            <a:ext cx="7284300" cy="24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40"/>
              <a:buFont typeface="DM Sans"/>
              <a:buChar char="•"/>
            </a:pPr>
            <a:r>
              <a:rPr b="0" i="0" lang="en-US" sz="2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The cDCGAN learned metal texture and some class-specific cues</a:t>
            </a:r>
            <a:endParaRPr b="0" i="0" sz="2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40"/>
              <a:buFont typeface="DM Sans"/>
              <a:buChar char="•"/>
            </a:pPr>
            <a:r>
              <a:rPr b="0" i="0" lang="en-US" sz="2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Spots were easier to learn than scratches</a:t>
            </a:r>
            <a:endParaRPr b="0" i="0" sz="2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40"/>
              <a:buFont typeface="DM Sans"/>
              <a:buChar char="•"/>
            </a:pPr>
            <a:r>
              <a:rPr b="0" i="0" lang="en-US" sz="2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Diversity remained the main limitation</a:t>
            </a:r>
            <a:endParaRPr b="0" i="0" sz="2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40"/>
              <a:buFont typeface="DM Sans"/>
              <a:buChar char="•"/>
            </a:pPr>
            <a:r>
              <a:rPr b="0" i="0" lang="en-US" sz="2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These results point clearly to the next set </a:t>
            </a:r>
            <a:br>
              <a:rPr b="0" i="0" lang="en-US" sz="2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0" i="0" lang="en-US" sz="2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of experiments</a:t>
            </a:r>
            <a:endParaRPr b="0" i="0" sz="2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4"/>
          <p:cNvCxnSpPr/>
          <p:nvPr/>
        </p:nvCxnSpPr>
        <p:spPr>
          <a:xfrm>
            <a:off x="304800" y="533400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9" name="Google Shape;309;p14"/>
          <p:cNvCxnSpPr/>
          <p:nvPr/>
        </p:nvCxnSpPr>
        <p:spPr>
          <a:xfrm>
            <a:off x="304800" y="4800600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0" name="Google Shape;310;p14"/>
          <p:cNvSpPr/>
          <p:nvPr/>
        </p:nvSpPr>
        <p:spPr>
          <a:xfrm>
            <a:off x="8724900" y="4924425"/>
            <a:ext cx="1143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14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/>
          <p:nvPr/>
        </p:nvSpPr>
        <p:spPr>
          <a:xfrm>
            <a:off x="304800" y="171450"/>
            <a:ext cx="26670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2424113" y="1081088"/>
            <a:ext cx="2095500" cy="490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328613" y="4924425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302419" y="595313"/>
            <a:ext cx="4481513" cy="135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76"/>
              </a:lnSpc>
              <a:spcBef>
                <a:spcPts val="0"/>
              </a:spcBef>
              <a:spcAft>
                <a:spcPts val="0"/>
              </a:spcAft>
              <a:buClr>
                <a:srgbClr val="FF853E"/>
              </a:buClr>
              <a:buSzPts val="3563"/>
              <a:buFont typeface="DM Mono"/>
              <a:buNone/>
            </a:pPr>
            <a:r>
              <a:rPr b="0" i="0" lang="en-US" sz="3563" u="none" cap="none" strike="noStrike">
                <a:solidFill>
                  <a:srgbClr val="FF853E"/>
                </a:solidFill>
                <a:latin typeface="DM Mono"/>
                <a:ea typeface="DM Mono"/>
                <a:cs typeface="DM Mono"/>
                <a:sym typeface="DM Mono"/>
              </a:rPr>
              <a:t>References / Acknowledgments</a:t>
            </a:r>
            <a:endParaRPr b="0" i="0" sz="35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1" name="Google Shape;321;p15"/>
          <p:cNvPicPr preferRelativeResize="0"/>
          <p:nvPr/>
        </p:nvPicPr>
        <p:blipFill rotWithShape="1">
          <a:blip r:embed="rId3">
            <a:alphaModFix/>
          </a:blip>
          <a:srcRect b="185" l="0" r="18525" t="0"/>
          <a:stretch/>
        </p:blipFill>
        <p:spPr>
          <a:xfrm>
            <a:off x="4954805" y="0"/>
            <a:ext cx="41891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5"/>
          <p:cNvSpPr/>
          <p:nvPr/>
        </p:nvSpPr>
        <p:spPr>
          <a:xfrm>
            <a:off x="247650" y="2024062"/>
            <a:ext cx="4343400" cy="1928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Mirza &amp; Osindero — Conditional Generative Adversarial Nets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Radford et al. — DCGAN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Isola et al. — pix2pix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Zhu et al. — CycleGAN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Defect-Transfer GAN paper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Advisor: Abu Islam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Co-mentor / support: Sri Priya Das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40"/>
              <a:buFont typeface="DM Sans"/>
              <a:buChar char="•"/>
            </a:pPr>
            <a:r>
              <a:rPr b="0" i="0" lang="en-US" sz="114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RIT Research Computing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15"/>
          <p:cNvCxnSpPr/>
          <p:nvPr/>
        </p:nvCxnSpPr>
        <p:spPr>
          <a:xfrm>
            <a:off x="304800" y="533400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4" name="Google Shape;324;p15"/>
          <p:cNvCxnSpPr/>
          <p:nvPr/>
        </p:nvCxnSpPr>
        <p:spPr>
          <a:xfrm>
            <a:off x="304800" y="4800600"/>
            <a:ext cx="8534400" cy="0"/>
          </a:xfrm>
          <a:prstGeom prst="straightConnector1">
            <a:avLst/>
          </a:prstGeom>
          <a:noFill/>
          <a:ln cap="flat" cmpd="sng" w="9525">
            <a:solidFill>
              <a:srgbClr val="1F1F1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25" name="Google Shape;325;p15"/>
          <p:cNvSpPr/>
          <p:nvPr/>
        </p:nvSpPr>
        <p:spPr>
          <a:xfrm>
            <a:off x="8724900" y="4924425"/>
            <a:ext cx="1143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15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53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16" title="scratches_00011.jpg"/>
          <p:cNvPicPr preferRelativeResize="0"/>
          <p:nvPr/>
        </p:nvPicPr>
        <p:blipFill rotWithShape="1">
          <a:blip r:embed="rId3">
            <a:alphaModFix/>
          </a:blip>
          <a:srcRect b="34351" l="0" r="0" t="34348"/>
          <a:stretch/>
        </p:blipFill>
        <p:spPr>
          <a:xfrm>
            <a:off x="0" y="2281238"/>
            <a:ext cx="9144001" cy="286226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6"/>
          <p:cNvSpPr/>
          <p:nvPr/>
        </p:nvSpPr>
        <p:spPr>
          <a:xfrm>
            <a:off x="8729663" y="4733925"/>
            <a:ext cx="1143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01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1764506" y="714375"/>
            <a:ext cx="5610225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3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7125"/>
              <a:buFont typeface="Instrument Sans"/>
              <a:buNone/>
            </a:pPr>
            <a:r>
              <a:rPr b="1" i="0" lang="en-US" sz="7125" u="none" cap="none" strike="noStrike">
                <a:solidFill>
                  <a:srgbClr val="1F1F1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Thank You ;)</a:t>
            </a:r>
            <a:endParaRPr b="0" i="0" sz="7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8724900" y="4733925"/>
            <a:ext cx="1143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000000"/>
                </a:solidFill>
                <a:latin typeface="DM Mono"/>
                <a:ea typeface="DM Mono"/>
                <a:cs typeface="DM Mono"/>
                <a:sym typeface="DM Mono"/>
              </a:rPr>
              <a:t>16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304800" y="171450"/>
            <a:ext cx="266700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04/08/2026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7" name="Google Shape;337;p16"/>
          <p:cNvPicPr preferRelativeResize="0"/>
          <p:nvPr/>
        </p:nvPicPr>
        <p:blipFill rotWithShape="1">
          <a:blip r:embed="rId4">
            <a:alphaModFix/>
          </a:blip>
          <a:srcRect b="190" l="0" r="64853" t="0"/>
          <a:stretch/>
        </p:blipFill>
        <p:spPr>
          <a:xfrm rot="5400000">
            <a:off x="1668149" y="1682800"/>
            <a:ext cx="18072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6"/>
          <p:cNvSpPr/>
          <p:nvPr/>
        </p:nvSpPr>
        <p:spPr>
          <a:xfrm>
            <a:off x="328613" y="4924425"/>
            <a:ext cx="2690813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124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641"/>
              <a:buFont typeface="DM Mono"/>
              <a:buNone/>
            </a:pPr>
            <a:r>
              <a:rPr b="0" i="0" lang="en-US" sz="641" u="none" cap="none" strike="noStrike">
                <a:solidFill>
                  <a:srgbClr val="1F1F1F"/>
                </a:solidFill>
                <a:latin typeface="DM Mono"/>
                <a:ea typeface="DM Mono"/>
                <a:cs typeface="DM Mono"/>
                <a:sym typeface="DM Mono"/>
              </a:rPr>
              <a:t>SRUJAN VADDIPARTHI</a:t>
            </a:r>
            <a:endParaRPr b="0" i="0" sz="64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9" name="Google Shape;3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96225" y="142875"/>
            <a:ext cx="1065163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0" name="Google Shape;340;p16"/>
          <p:cNvPicPr preferRelativeResize="0"/>
          <p:nvPr/>
        </p:nvPicPr>
        <p:blipFill rotWithShape="1">
          <a:blip r:embed="rId4">
            <a:alphaModFix/>
          </a:blip>
          <a:srcRect b="190" l="0" r="65708" t="42313"/>
          <a:stretch/>
        </p:blipFill>
        <p:spPr>
          <a:xfrm rot="5400000">
            <a:off x="6810187" y="2897613"/>
            <a:ext cx="1763226" cy="29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2026-04-08T21:38:59Z</dcterms:created>
  <dc:creator>PptxGenJS</dc:creator>
</cp:coreProperties>
</file>